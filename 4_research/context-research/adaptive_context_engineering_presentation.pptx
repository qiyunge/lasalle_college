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3243D"/>
                </a:solidFill>
                <a:latin typeface="Aptos"/>
              </a:rPr>
              <a:t>Adaptive Context Engineering
for Agentic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14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626C78"/>
                </a:solidFill>
                <a:latin typeface="Aptos"/>
              </a:rPr>
              <a:t>Constructing effective working contexts for frozen language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06908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42702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3243D"/>
                </a:solidFill>
                <a:latin typeface="Aptos"/>
              </a:rPr>
              <a:t>Available
Information $H_t$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06908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67328" y="42702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3243D"/>
                </a:solidFill>
                <a:latin typeface="Aptos"/>
              </a:rPr>
              <a:t>Context
Policy $\pi$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06908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42702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3243D"/>
                </a:solidFill>
                <a:latin typeface="Aptos"/>
              </a:rPr>
              <a:t>Working
Context $C_t$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406908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3728" y="42702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3243D"/>
                </a:solidFill>
                <a:latin typeface="Aptos"/>
              </a:rPr>
              <a:t>Frozen
Model $f_\theta$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4526280"/>
            <a:ext cx="59436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0" y="4526280"/>
            <a:ext cx="59436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58200" y="4526280"/>
            <a:ext cx="59436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8064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C78"/>
                </a:solidFill>
                <a:latin typeface="Aptos"/>
              </a:rPr>
              <a:t>Research topic introduction • empirical AI systems study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43D"/>
                </a:solidFill>
                <a:latin typeface="Aptos Display"/>
              </a:rPr>
              <a:t>1. From Model Capability to Effective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34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7B80"/>
                </a:solidFill>
                <a:latin typeface="Aptos"/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92807"/>
            <a:ext cx="26974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Pre-training + post-training shape learned representations, knowledge, and computational capabilities.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2588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325880"/>
            <a:ext cx="73152" cy="1828800"/>
          </a:xfrm>
          <a:prstGeom prst="rect">
            <a:avLst/>
          </a:prstGeom>
          <a:solidFill>
            <a:srgbClr val="2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90472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D9A"/>
                </a:solidFill>
                <a:latin typeface="Aptos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92807"/>
            <a:ext cx="26974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Model parameters are typically frozen during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32588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25880"/>
            <a:ext cx="73152" cy="1828800"/>
          </a:xfrm>
          <a:prstGeom prst="rect">
            <a:avLst/>
          </a:prstGeom>
          <a:solidFill>
            <a:srgbClr val="B7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490472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77030"/>
                </a:solidFill>
                <a:latin typeface="Aptos"/>
              </a:rPr>
              <a:t>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892807"/>
            <a:ext cx="26974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Observed behavior depends strongly on the context constructed for each call.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94760" y="2240280"/>
            <a:ext cx="64008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35240" y="2240280"/>
            <a:ext cx="64008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3000" y="3977639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3243D"/>
                </a:solidFill>
                <a:latin typeface="Aptos"/>
              </a:rPr>
              <a:t>Learned Capability  +  Appropriate Context  →  Effective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8348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26C78"/>
                </a:solidFill>
                <a:latin typeface="Aptos"/>
              </a:rPr>
              <a:t>Having a capability is not the same as eliciting it in every inference.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43D"/>
                </a:solidFill>
                <a:latin typeface="Aptos Display"/>
              </a:rPr>
              <a:t>2. Context as an Inference-Time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26C78"/>
                </a:solidFill>
                <a:latin typeface="Aptos"/>
              </a:rPr>
              <a:t>A systems view of prompt + memory + tools +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3243D"/>
                </a:solidFill>
                <a:latin typeface="Aptos"/>
              </a:rPr>
              <a:t>Frozen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677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5D9A"/>
                </a:solidFill>
                <a:latin typeface="Aptos"/>
              </a:rPr>
              <a:t>$f_\theta$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298448"/>
            <a:ext cx="2468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38074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831"/>
                </a:solidFill>
                <a:latin typeface="Aptos"/>
              </a:rPr>
              <a:t>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2468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002536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831"/>
                </a:solidFill>
                <a:latin typeface="Aptos"/>
              </a:rPr>
              <a:t>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42032"/>
            <a:ext cx="2468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62432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831"/>
                </a:solidFill>
                <a:latin typeface="Aptos"/>
              </a:rPr>
              <a:t>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163824"/>
            <a:ext cx="2468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32461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831"/>
                </a:solidFill>
                <a:latin typeface="Aptos"/>
              </a:rPr>
              <a:t>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785616"/>
            <a:ext cx="2468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38679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831"/>
                </a:solidFill>
                <a:latin typeface="Aptos"/>
              </a:rPr>
              <a:t>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407408"/>
            <a:ext cx="2468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448970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831"/>
                </a:solidFill>
                <a:latin typeface="Aptos"/>
              </a:rPr>
              <a:t>Observations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029200"/>
            <a:ext cx="2468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5111496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831"/>
                </a:solidFill>
                <a:latin typeface="Aptos"/>
              </a:rPr>
              <a:t>State / Constraints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78040" y="3401568"/>
            <a:ext cx="105156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75320" y="269748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47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94436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7B80"/>
                </a:solidFill>
                <a:latin typeface="Aptos"/>
              </a:rPr>
              <a:t>Working Context
$C_t$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3429000" y="2542032"/>
            <a:ext cx="960120" cy="859536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3243D"/>
                </a:solidFill>
                <a:latin typeface="Aptos"/>
              </a:rPr>
              <a:t>Context Engineering = Capability Elicitation + Runtime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26C78"/>
                </a:solidFill>
                <a:latin typeface="Aptos"/>
              </a:rPr>
              <a:t>The analogy is conceptual: context is not literally executable code, but it programs the conditions of inference.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43D"/>
                </a:solidFill>
                <a:latin typeface="Aptos Display"/>
              </a:rPr>
              <a:t>3. Why Agentic Systems Make Context a Systems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645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3243D"/>
                </a:solidFill>
                <a:latin typeface="Aptos"/>
              </a:rPr>
              <a:t>Observe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417320"/>
            <a:ext cx="1645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3243D"/>
                </a:solidFill>
                <a:latin typeface="Aptos"/>
              </a:rPr>
              <a:t>Reason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17320"/>
            <a:ext cx="1645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59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3243D"/>
                </a:solidFill>
                <a:latin typeface="Aptos"/>
              </a:rPr>
              <a:t>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17320"/>
            <a:ext cx="1645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3243D"/>
                </a:solidFill>
                <a:latin typeface="Aptos"/>
              </a:rPr>
              <a:t>Observe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1764792"/>
            <a:ext cx="50292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1764792"/>
            <a:ext cx="50292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95160" y="1764792"/>
            <a:ext cx="50292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1764792"/>
            <a:ext cx="68580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12680" y="15270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6C78"/>
                </a:solidFill>
                <a:latin typeface="Aptos"/>
              </a:rPr>
              <a:t>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432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743200"/>
            <a:ext cx="73152" cy="2011680"/>
          </a:xfrm>
          <a:prstGeom prst="rect">
            <a:avLst/>
          </a:prstGeom>
          <a:solidFill>
            <a:srgbClr val="2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90779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D9A"/>
                </a:solidFill>
                <a:latin typeface="Aptos"/>
              </a:rPr>
              <a:t>Available information $H_t$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10128"/>
            <a:ext cx="28346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Conversation
Retrieved documents
Source code &amp; files
Tool outputs
Execution traces
Errors &amp;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429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47B80"/>
                </a:solidFill>
                <a:latin typeface="Aptos"/>
              </a:rPr>
              <a:t>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23360" y="3703320"/>
            <a:ext cx="36576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66360" y="3703320"/>
            <a:ext cx="36576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32120" y="2971800"/>
            <a:ext cx="2423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32120" y="2971800"/>
            <a:ext cx="73152" cy="1463040"/>
          </a:xfrm>
          <a:prstGeom prst="rect">
            <a:avLst/>
          </a:prstGeom>
          <a:solidFill>
            <a:srgbClr val="34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3136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7B80"/>
                </a:solidFill>
                <a:latin typeface="Aptos"/>
              </a:rPr>
              <a:t>Working context $C_t$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38728"/>
            <a:ext cx="20116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A selected subset for the current inference.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01000" y="3703320"/>
            <a:ext cx="411480" cy="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0" y="297180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2971800"/>
            <a:ext cx="73152" cy="1463040"/>
          </a:xfrm>
          <a:prstGeom prst="rect">
            <a:avLst/>
          </a:prstGeom>
          <a:solidFill>
            <a:srgbClr val="B7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1363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77030"/>
                </a:solidFill>
                <a:latin typeface="Aptos"/>
              </a:rPr>
              <a:t>Frozen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538728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Produces the next response or 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3243D"/>
                </a:solidFill>
                <a:latin typeface="Aptos"/>
              </a:rPr>
              <a:t>In long-running agents:  |Hₜ|  ≫  |Cₜ|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43D"/>
                </a:solidFill>
                <a:latin typeface="Aptos Display"/>
              </a:rPr>
              <a:t>4. Working Context and the Memory Hierarchy Analogy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246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" cy="3429000"/>
          </a:xfrm>
          <a:prstGeom prst="rect">
            <a:avLst/>
          </a:prstGeom>
          <a:solidFill>
            <a:srgbClr val="2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D9A"/>
                </a:solidFill>
                <a:latin typeface="Aptos"/>
              </a:rPr>
              <a:t>Computer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92807"/>
            <a:ext cx="2834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Large persistent information
→ memory hierarchy
→ current working set
Goal: put the right data close to the current computation.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246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325880"/>
            <a:ext cx="73152" cy="3429000"/>
          </a:xfrm>
          <a:prstGeom prst="rect">
            <a:avLst/>
          </a:prstGeom>
          <a:solidFill>
            <a:srgbClr val="34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49047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7B80"/>
                </a:solidFill>
                <a:latin typeface="Aptos"/>
              </a:rPr>
              <a:t>Agentic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892807"/>
            <a:ext cx="2834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Large history / external memory
→ retrieval, summary, selection
→ current working context
Goal: put the right information into the current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3246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73152" cy="3429000"/>
          </a:xfrm>
          <a:prstGeom prst="rect">
            <a:avLst/>
          </a:prstGeom>
          <a:solidFill>
            <a:srgbClr val="B7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49047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77030"/>
                </a:solidFill>
                <a:latin typeface="Aptos"/>
              </a:rPr>
              <a:t>Important distinction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892807"/>
            <a:ext cx="2834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Context window capacity is not the same as effective utilization.
Availability ≠ Accessibility ≠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3243D"/>
                </a:solidFill>
                <a:latin typeface="Aptos"/>
              </a:rPr>
              <a:t>The question is not only “Can it fit?” — but “What should the model see now?”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43D"/>
                </a:solidFill>
                <a:latin typeface="Aptos Display"/>
              </a:rPr>
              <a:t>5. Why This Matters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26C78"/>
                </a:solidFill>
                <a:latin typeface="Aptos"/>
              </a:rPr>
              <a:t>Long-running coding and agentic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D9A"/>
                </a:solidFill>
                <a:latin typeface="Aptos"/>
              </a:rPr>
              <a:t>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Repository map
Relevant files
Terminal output
Tests &amp; diffs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417320"/>
            <a:ext cx="73152" cy="1828800"/>
          </a:xfrm>
          <a:prstGeom prst="rect">
            <a:avLst/>
          </a:prstGeom>
          <a:solidFill>
            <a:srgbClr val="34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7B80"/>
                </a:solidFill>
                <a:latin typeface="Aptos"/>
              </a:rPr>
              <a:t>Chat / assistants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984248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Conversation
User memory
Retrieved knowledge
Current intent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73152" cy="1828800"/>
          </a:xfrm>
          <a:prstGeom prst="rect">
            <a:avLst/>
          </a:prstGeom>
          <a:solidFill>
            <a:srgbClr val="B7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77030"/>
                </a:solidFill>
                <a:latin typeface="Aptos"/>
              </a:rPr>
              <a:t>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84248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Problem state
Constraints
Evidence
Intermediate artifacts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417320"/>
            <a:ext cx="73152" cy="1828800"/>
          </a:xfrm>
          <a:prstGeom prst="rect">
            <a:avLst/>
          </a:prstGeom>
          <a:solidFill>
            <a:srgbClr val="2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D9A"/>
                </a:solidFill>
                <a:latin typeface="Aptos"/>
              </a:rPr>
              <a:t>Multimodal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984248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Text conditions
Images / references
Masks / controls
Generated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3243D"/>
                </a:solidFill>
                <a:latin typeface="Aptos"/>
              </a:rPr>
              <a:t>C_chat  ≠  C_reasoning  ≠  C_coding  ≠  C_multimodal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92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26C78"/>
                </a:solidFill>
                <a:latin typeface="Aptos"/>
              </a:rPr>
              <a:t>Hypothesis: there may be no universally optimal context-management strategy.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43D"/>
                </a:solidFill>
                <a:latin typeface="Aptos Display"/>
              </a:rPr>
              <a:t>6. Related Work: Three Pieces of the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2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D9A"/>
                </a:solidFill>
                <a:latin typeface="Aptos"/>
              </a:rPr>
              <a:t>Lost in the Middle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292607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Information can be present in a long context without being used uniformly.
Key question for this study:
Does the U-shaped position effect still persist in modern models?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73152" cy="3383280"/>
          </a:xfrm>
          <a:prstGeom prst="rect">
            <a:avLst/>
          </a:prstGeom>
          <a:solidFill>
            <a:srgbClr val="34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819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7B80"/>
                </a:solidFill>
                <a:latin typeface="Aptos"/>
              </a:rPr>
              <a:t>MemGPT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2607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Treats context/memory as an explicitly managed resource, inspired by virtual memory.
Key idea:
The active context need not contain everything.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417320"/>
            <a:ext cx="73152" cy="3383280"/>
          </a:xfrm>
          <a:prstGeom prst="rect">
            <a:avLst/>
          </a:prstGeom>
          <a:solidFill>
            <a:srgbClr val="B7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819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77030"/>
                </a:solidFill>
                <a:latin typeface="Aptos"/>
              </a:rPr>
              <a:t>LongMemEval-V2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84248"/>
            <a:ext cx="292607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Evaluates long-term agent memory over large histories.
Key lesson:
Quality must be considered together with retrieval/context cost and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3243D"/>
                </a:solidFill>
                <a:latin typeface="Aptos"/>
              </a:rPr>
              <a:t>Problem → Management paradigm → Evaluation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43D"/>
                </a:solidFill>
                <a:latin typeface="Aptos Display"/>
              </a:rPr>
              <a:t>7. Research Gap and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10607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73152" cy="1051560"/>
          </a:xfrm>
          <a:prstGeom prst="rect">
            <a:avLst/>
          </a:prstGeom>
          <a:solidFill>
            <a:srgbClr val="2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90472"/>
            <a:ext cx="10195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D9A"/>
                </a:solidFill>
                <a:latin typeface="Aptos"/>
              </a:rP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92807"/>
            <a:ext cx="101955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Does the Lost-in-the-Middle effect still exist in current-generation language models, and how does it change with context length?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10607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97480"/>
            <a:ext cx="73152" cy="1051560"/>
          </a:xfrm>
          <a:prstGeom prst="rect">
            <a:avLst/>
          </a:prstGeom>
          <a:solidFill>
            <a:srgbClr val="34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62072"/>
            <a:ext cx="10195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7B80"/>
                </a:solidFill>
                <a:latin typeface="Aptos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64408"/>
            <a:ext cx="101955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Can selective context maintain or improve task quality compared with providing the complete available context?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07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4069080"/>
            <a:ext cx="73152" cy="1051560"/>
          </a:xfrm>
          <a:prstGeom prst="rect">
            <a:avLst/>
          </a:prstGeom>
          <a:solidFill>
            <a:srgbClr val="B7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33672"/>
            <a:ext cx="10195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77030"/>
                </a:solidFill>
                <a:latin typeface="Aptos"/>
              </a:rP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36008"/>
            <a:ext cx="101955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Can a lightweight adaptive policy select an appropriate context strategy according to task and system state?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3243D"/>
                </a:solidFill>
                <a:latin typeface="Aptos"/>
              </a:rPr>
              <a:t>More Context  ≠  Better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43D"/>
                </a:solidFill>
                <a:latin typeface="Aptos Display"/>
              </a:rPr>
              <a:t>8. Proposed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26C78"/>
                </a:solidFill>
                <a:latin typeface="Aptos"/>
              </a:rPr>
              <a:t>Keep the model frozen; make context construction the experimental variable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965960"/>
          </a:xfrm>
          <a:prstGeom prst="rect">
            <a:avLst/>
          </a:prstGeom>
          <a:solidFill>
            <a:srgbClr val="2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D9A"/>
                </a:solidFill>
                <a:latin typeface="Aptos"/>
              </a:rPr>
              <a:t>Phase 1 — Re-evaluate U-shape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Vary relevant-information position and total context length.
Q = f(position, context length)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325880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1325880"/>
            <a:ext cx="73152" cy="1965960"/>
          </a:xfrm>
          <a:prstGeom prst="rect">
            <a:avLst/>
          </a:prstGeom>
          <a:solidFill>
            <a:srgbClr val="34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49047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7B80"/>
                </a:solidFill>
                <a:latin typeface="Aptos"/>
              </a:rPr>
              <a:t>Phase 2 — Compare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92807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Full history
Fixed window
Summarization
Relevance retrieval
Hybrid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25880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325880"/>
            <a:ext cx="73152" cy="1965960"/>
          </a:xfrm>
          <a:prstGeom prst="rect">
            <a:avLst/>
          </a:prstGeom>
          <a:solidFill>
            <a:srgbClr val="B7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49047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77030"/>
                </a:solidFill>
                <a:latin typeface="Aptos"/>
              </a:rPr>
              <a:t>Phase 3 — Adaptive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892807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Use interpretable signals such as task type, context length, relevance, state, and budget.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132588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1325880"/>
            <a:ext cx="73152" cy="1965960"/>
          </a:xfrm>
          <a:prstGeom prst="rect">
            <a:avLst/>
          </a:prstGeom>
          <a:solidFill>
            <a:srgbClr val="2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49047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D9A"/>
                </a:solidFill>
                <a:latin typeface="Aptos"/>
              </a:rP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892807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831"/>
                </a:solidFill>
                <a:latin typeface="Aptos"/>
              </a:rPr>
              <a:t>No RL manager initially.
No new foundation model.
Focus on implementation and controlled comparison.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3243D"/>
                </a:solidFill>
                <a:latin typeface="Aptos"/>
              </a:rPr>
              <a:t>Evaluation dimensions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57200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00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831"/>
                </a:solidFill>
                <a:latin typeface="Aptos"/>
              </a:rPr>
              <a:t>Task Quality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57200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4800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831"/>
                </a:solidFill>
                <a:latin typeface="Aptos"/>
              </a:rPr>
              <a:t>Input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7200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800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831"/>
                </a:solidFill>
                <a:latin typeface="Aptos"/>
              </a:rPr>
              <a:t>Latency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457200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800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831"/>
                </a:solidFill>
                <a:latin typeface="Aptos"/>
              </a:rPr>
              <a:t>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26C78"/>
                </a:solidFill>
                <a:latin typeface="Aptos"/>
              </a:rPr>
              <a:t>Goal: study the quality–cost frontier, not accuracy alone.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43D"/>
                </a:solidFill>
                <a:latin typeface="Aptos Display"/>
              </a:rPr>
              <a:t>9. Research Focus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49039" y="1325880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86200" y="149961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5D9A"/>
                </a:solidFill>
                <a:latin typeface="Aptos"/>
              </a:rPr>
              <a:t>Available Information  Hₜ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08192" y="2011680"/>
            <a:ext cx="0" cy="274320"/>
          </a:xfrm>
          <a:prstGeom prst="line">
            <a:avLst/>
          </a:prstGeom>
          <a:ln w="25400">
            <a:solidFill>
              <a:srgbClr val="2E5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49039" y="2331720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47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250545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7B80"/>
                </a:solidFill>
                <a:latin typeface="Aptos"/>
              </a:rPr>
              <a:t>Context Policy  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08192" y="3017520"/>
            <a:ext cx="0" cy="274320"/>
          </a:xfrm>
          <a:prstGeom prst="line">
            <a:avLst/>
          </a:prstGeom>
          <a:ln w="25400">
            <a:solidFill>
              <a:srgbClr val="347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3337560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47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351129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7B80"/>
                </a:solidFill>
                <a:latin typeface="Aptos"/>
              </a:rPr>
              <a:t>Working Context  Cₜ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08192" y="4023360"/>
            <a:ext cx="0" cy="274320"/>
          </a:xfrm>
          <a:prstGeom prst="line">
            <a:avLst/>
          </a:prstGeom>
          <a:ln w="25400">
            <a:solidFill>
              <a:srgbClr val="347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49039" y="4343400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B77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451713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77030"/>
                </a:solidFill>
                <a:latin typeface="Aptos"/>
              </a:rPr>
              <a:t>Frozen Model  fθ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08192" y="5029200"/>
            <a:ext cx="0" cy="274320"/>
          </a:xfrm>
          <a:prstGeom prst="line">
            <a:avLst/>
          </a:prstGeom>
          <a:ln w="25400">
            <a:solidFill>
              <a:srgbClr val="B7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49039" y="5349240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3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552297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43D"/>
                </a:solidFill>
                <a:latin typeface="Aptos"/>
              </a:rPr>
              <a:t>Effective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2148840"/>
            <a:ext cx="5394960" cy="1874519"/>
          </a:xfrm>
          <a:prstGeom prst="roundRect">
            <a:avLst/>
          </a:prstGeom>
          <a:noFill/>
          <a:ln w="25400">
            <a:solidFill>
              <a:srgbClr val="347B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172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43D"/>
                </a:solidFill>
                <a:latin typeface="Aptos"/>
              </a:rPr>
              <a:t>My research focuses on how to construct the working context — rather than how to retrain the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8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