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95043-A958-1F36-5D3D-29A21851859B}" v="8" dt="2025-11-08T00:12:24.694"/>
    <p1510:client id="{DAA4179C-F990-5793-473F-8CA59391C4E5}" v="574" dt="2025-11-08T00:09:59.808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0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4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1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7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5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1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1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5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6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6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8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4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72" r:id="rId4"/>
    <p:sldLayoutId id="2147483673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BD5FB4-B521-3658-3333-99D1474FAE79}"/>
              </a:ext>
            </a:extLst>
          </p:cNvPr>
          <p:cNvSpPr txBox="1"/>
          <p:nvPr/>
        </p:nvSpPr>
        <p:spPr>
          <a:xfrm>
            <a:off x="612648" y="600074"/>
            <a:ext cx="6035040" cy="15299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LangSynapse</a:t>
            </a: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06BA24-4DFF-772F-432D-996F83BFF072}"/>
              </a:ext>
            </a:extLst>
          </p:cNvPr>
          <p:cNvSpPr txBox="1"/>
          <p:nvPr/>
        </p:nvSpPr>
        <p:spPr>
          <a:xfrm>
            <a:off x="612647" y="2212848"/>
            <a:ext cx="6035041" cy="40965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i="1"/>
              <a:t>Système de correction et révision intelligente</a:t>
            </a:r>
            <a:br>
              <a:rPr lang="en-US"/>
            </a:br>
            <a:r>
              <a:rPr lang="en-US" i="1"/>
              <a:t>Pour l’apprentissage des langues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DF8A6542-7656-89D7-2931-8F6982B0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22" r="37143" b="-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33AEC73-FCDD-6A14-AA7A-DC77500707E1}"/>
              </a:ext>
            </a:extLst>
          </p:cNvPr>
          <p:cNvSpPr txBox="1"/>
          <p:nvPr/>
        </p:nvSpPr>
        <p:spPr>
          <a:xfrm>
            <a:off x="3048000" y="3527777"/>
            <a:ext cx="60960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latin typeface="Aptos"/>
                <a:ea typeface="Aptos"/>
                <a:cs typeface="Aptos"/>
              </a:rPr>
              <a:t>​</a:t>
            </a:r>
            <a:br>
              <a:rPr lang="en-US">
                <a:latin typeface="Aptos"/>
                <a:ea typeface="Aptos"/>
                <a:cs typeface="Aptos"/>
              </a:rPr>
            </a:br>
            <a:r>
              <a:rPr lang="en-US" b="1" baseline="0">
                <a:latin typeface="Aptos"/>
              </a:rPr>
              <a:t>Reporter : </a:t>
            </a:r>
            <a:endParaRPr lang="en-US" altLang="zh-CN">
              <a:latin typeface="Aptos"/>
              <a:ea typeface="宋体" panose="02010600030101010101" pitchFamily="2" charset="-122"/>
            </a:endParaRPr>
          </a:p>
          <a:p>
            <a:pPr algn="ctr">
              <a:spcAft>
                <a:spcPts val="600"/>
              </a:spcAft>
            </a:pPr>
            <a:r>
              <a:rPr lang="en-US" b="1" baseline="0">
                <a:latin typeface="Aptos"/>
              </a:rPr>
              <a:t>YuPing Yan et </a:t>
            </a:r>
            <a:r>
              <a:rPr lang="en-US" b="1" baseline="0" err="1">
                <a:latin typeface="Aptos"/>
              </a:rPr>
              <a:t>Qiyun</a:t>
            </a:r>
            <a:r>
              <a:rPr lang="en-US" b="1" baseline="0">
                <a:latin typeface="Aptos"/>
              </a:rPr>
              <a:t> Ge</a:t>
            </a:r>
            <a:r>
              <a:rPr lang="en-US">
                <a:latin typeface="Aptos"/>
                <a:ea typeface="Aptos"/>
                <a:cs typeface="Aptos"/>
              </a:rPr>
              <a:t>​</a:t>
            </a:r>
            <a:endParaRPr lang="en-US">
              <a:ea typeface="宋体"/>
            </a:endParaRPr>
          </a:p>
          <a:p>
            <a:pPr algn="ctr">
              <a:spcAft>
                <a:spcPts val="60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92DBE-45C2-036A-9F1A-19B9A4B4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2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C7A916-CCEC-8EBA-1DBE-230727638781}"/>
              </a:ext>
            </a:extLst>
          </p:cNvPr>
          <p:cNvSpPr txBox="1"/>
          <p:nvPr/>
        </p:nvSpPr>
        <p:spPr>
          <a:xfrm>
            <a:off x="612648" y="548640"/>
            <a:ext cx="10872214" cy="1132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Outline</a:t>
            </a: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BAE9CD8D-9EEB-1640-93DA-C52130E8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38" r="30745" b="1"/>
          <a:stretch>
            <a:fillRect/>
          </a:stretch>
        </p:blipFill>
        <p:spPr>
          <a:xfrm>
            <a:off x="727379" y="1775012"/>
            <a:ext cx="4445256" cy="453434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C7C0FAE-2E14-2800-B62D-41C9E13F3E4C}"/>
              </a:ext>
            </a:extLst>
          </p:cNvPr>
          <p:cNvSpPr txBox="1"/>
          <p:nvPr/>
        </p:nvSpPr>
        <p:spPr>
          <a:xfrm>
            <a:off x="5656728" y="1775012"/>
            <a:ext cx="5828134" cy="45343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 err="1"/>
              <a:t>Comprendre</a:t>
            </a:r>
            <a:r>
              <a:rPr lang="en-CA" dirty="0"/>
              <a:t> le </a:t>
            </a:r>
            <a:r>
              <a:rPr lang="en-CA" dirty="0" err="1"/>
              <a:t>contexte</a:t>
            </a:r>
            <a:endParaRPr lang="en-US" altLang="zh-CN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/>
              <a:t>Identification des </a:t>
            </a:r>
            <a:r>
              <a:rPr lang="en-CA" dirty="0" err="1"/>
              <a:t>enjeux</a:t>
            </a:r>
            <a:endParaRPr lang="en-CA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/>
              <a:t>Données et études </a:t>
            </a:r>
            <a:r>
              <a:rPr lang="en-CA" dirty="0" err="1"/>
              <a:t>similaires</a:t>
            </a:r>
            <a:endParaRPr lang="en-CA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dirty="0"/>
              <a:t>Identification des </a:t>
            </a:r>
            <a:r>
              <a:rPr lang="en-CA" dirty="0" err="1"/>
              <a:t>utilisateurs</a:t>
            </a:r>
            <a:endParaRPr lang="en-US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036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B3DE2-389E-82DC-176D-69801EB5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2">
            <a:extLst>
              <a:ext uri="{FF2B5EF4-FFF2-40B4-BE49-F238E27FC236}">
                <a16:creationId xmlns:a16="http://schemas.microsoft.com/office/drawing/2014/main" id="{0D858EE3-3A3A-A9AD-0DA9-EE4A47607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857C47-A190-33CE-D627-B77CF73A5298}"/>
              </a:ext>
            </a:extLst>
          </p:cNvPr>
          <p:cNvSpPr txBox="1"/>
          <p:nvPr/>
        </p:nvSpPr>
        <p:spPr>
          <a:xfrm>
            <a:off x="612648" y="548640"/>
            <a:ext cx="10872214" cy="1132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Comprendre le contexte</a:t>
            </a: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78E129B3-0AAE-0D8E-38EF-3C0DB576E2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38" r="30745" b="1"/>
          <a:stretch>
            <a:fillRect/>
          </a:stretch>
        </p:blipFill>
        <p:spPr>
          <a:xfrm>
            <a:off x="727379" y="1775012"/>
            <a:ext cx="4445256" cy="453434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7C39C7-D905-B0E8-CFD6-E772290EAF72}"/>
              </a:ext>
            </a:extLst>
          </p:cNvPr>
          <p:cNvSpPr txBox="1"/>
          <p:nvPr/>
        </p:nvSpPr>
        <p:spPr>
          <a:xfrm>
            <a:off x="5656728" y="1775012"/>
            <a:ext cx="5828134" cy="45343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i="1"/>
              <a:t>Difficulté</a:t>
            </a:r>
            <a:r>
              <a:rPr lang="en-US" i="1" dirty="0"/>
              <a:t> des </a:t>
            </a:r>
            <a:r>
              <a:rPr lang="en-US" i="1"/>
              <a:t>apprenants</a:t>
            </a:r>
            <a:r>
              <a:rPr lang="en-US" i="1" dirty="0"/>
              <a:t> à </a:t>
            </a:r>
            <a:r>
              <a:rPr lang="en-US" i="1"/>
              <a:t>améliorer</a:t>
            </a:r>
            <a:r>
              <a:rPr lang="en-US" i="1" dirty="0"/>
              <a:t> </a:t>
            </a:r>
            <a:r>
              <a:rPr lang="en-US" i="1"/>
              <a:t>l'expression</a:t>
            </a:r>
            <a:r>
              <a:rPr lang="en-US" i="1" dirty="0"/>
              <a:t> </a:t>
            </a:r>
            <a:r>
              <a:rPr lang="en-US" i="1"/>
              <a:t>écrite</a:t>
            </a:r>
            <a:endParaRPr lang="en-US" altLang="zh-CN" i="1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/>
              <a:t>Outils</a:t>
            </a:r>
            <a:r>
              <a:rPr lang="en-US" i="1" dirty="0"/>
              <a:t> </a:t>
            </a:r>
            <a:r>
              <a:rPr lang="en-US" i="1"/>
              <a:t>existants</a:t>
            </a:r>
            <a:r>
              <a:rPr lang="en-US" i="1" dirty="0"/>
              <a:t> </a:t>
            </a:r>
            <a:r>
              <a:rPr lang="en-US" i="1"/>
              <a:t>comme</a:t>
            </a:r>
            <a:r>
              <a:rPr lang="en-US" i="1" dirty="0"/>
              <a:t> </a:t>
            </a:r>
            <a:r>
              <a:rPr lang="en-US" i="1"/>
              <a:t>Chatgpt</a:t>
            </a:r>
            <a:r>
              <a:rPr lang="en-US" i="1" dirty="0"/>
              <a:t>, Grammarly, </a:t>
            </a:r>
            <a:r>
              <a:rPr lang="en-US" i="1"/>
              <a:t>Bonparton</a:t>
            </a:r>
            <a:r>
              <a:rPr lang="en-US" i="1" dirty="0"/>
              <a:t>: corrections sans explication </a:t>
            </a:r>
            <a:r>
              <a:rPr lang="en-US" i="1"/>
              <a:t>pédagogique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1"/>
              <a:t>Enseignants</a:t>
            </a:r>
            <a:r>
              <a:rPr lang="en-US" i="1" dirty="0"/>
              <a:t>: manque de temps pour des </a:t>
            </a:r>
            <a:r>
              <a:rPr lang="en-US" i="1"/>
              <a:t>rétroactions</a:t>
            </a:r>
            <a:r>
              <a:rPr lang="en-US" i="1" dirty="0"/>
              <a:t> </a:t>
            </a:r>
            <a:r>
              <a:rPr lang="en-US" i="1"/>
              <a:t>détaillées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i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88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1222D-E44A-637B-C2A2-ECA0482E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5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535468-EAF3-84B8-3954-EE8F14B56806}"/>
              </a:ext>
            </a:extLst>
          </p:cNvPr>
          <p:cNvSpPr txBox="1"/>
          <p:nvPr/>
        </p:nvSpPr>
        <p:spPr>
          <a:xfrm>
            <a:off x="612648" y="600074"/>
            <a:ext cx="6035040" cy="15299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Identification des enjeux</a:t>
            </a:r>
            <a:endParaRPr lang="en-US" altLang="zh-CN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741E03-64C9-E864-05B0-51E0070AF257}"/>
              </a:ext>
            </a:extLst>
          </p:cNvPr>
          <p:cNvSpPr txBox="1"/>
          <p:nvPr/>
        </p:nvSpPr>
        <p:spPr>
          <a:xfrm>
            <a:off x="612647" y="2212848"/>
            <a:ext cx="6035041" cy="40965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Enjeux</a:t>
            </a:r>
            <a:r>
              <a:rPr lang="en-US" altLang="zh-CN" dirty="0"/>
              <a:t> </a:t>
            </a:r>
            <a:r>
              <a:rPr lang="en-US" altLang="zh-CN"/>
              <a:t>sociaux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Inclusion </a:t>
            </a:r>
            <a:r>
              <a:rPr lang="en-US" altLang="zh-CN"/>
              <a:t>linguistique</a:t>
            </a:r>
            <a:r>
              <a:rPr lang="en-US" altLang="zh-CN" dirty="0"/>
              <a:t> et </a:t>
            </a:r>
            <a:r>
              <a:rPr lang="en-US" altLang="zh-CN"/>
              <a:t>accès</a:t>
            </a:r>
            <a:r>
              <a:rPr lang="en-US" altLang="zh-CN" dirty="0"/>
              <a:t> </a:t>
            </a:r>
            <a:r>
              <a:rPr lang="en-US" altLang="zh-CN"/>
              <a:t>équitable</a:t>
            </a:r>
            <a:r>
              <a:rPr lang="en-US" altLang="zh-CN" dirty="0"/>
              <a:t> à un </a:t>
            </a:r>
            <a:r>
              <a:rPr lang="en-US" altLang="zh-CN"/>
              <a:t>accompagement</a:t>
            </a:r>
            <a:r>
              <a:rPr lang="en-US" altLang="zh-CN" dirty="0"/>
              <a:t> </a:t>
            </a:r>
            <a:r>
              <a:rPr lang="en-US" altLang="zh-CN"/>
              <a:t>personalisé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Enjeux</a:t>
            </a:r>
            <a:r>
              <a:rPr lang="en-US" dirty="0"/>
              <a:t> </a:t>
            </a:r>
            <a:r>
              <a:rPr lang="en-US" dirty="0" err="1"/>
              <a:t>écologiques</a:t>
            </a:r>
            <a:r>
              <a:rPr lang="en-US" dirty="0"/>
              <a:t> 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Réduction</a:t>
            </a:r>
            <a:r>
              <a:rPr lang="en-US" dirty="0"/>
              <a:t> de la </a:t>
            </a:r>
            <a:r>
              <a:rPr lang="en-US" dirty="0" err="1"/>
              <a:t>consommation</a:t>
            </a:r>
            <a:r>
              <a:rPr lang="en-US" dirty="0"/>
              <a:t> de papier et </a:t>
            </a:r>
            <a:r>
              <a:rPr lang="en-US" dirty="0" err="1"/>
              <a:t>apprentissage</a:t>
            </a:r>
            <a:r>
              <a:rPr lang="en-US" dirty="0"/>
              <a:t> durable 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571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Enjeux</a:t>
            </a:r>
            <a:r>
              <a:rPr lang="en-US" dirty="0"/>
              <a:t> </a:t>
            </a:r>
            <a:r>
              <a:rPr lang="en-US" dirty="0" err="1"/>
              <a:t>Logistique</a:t>
            </a:r>
            <a:r>
              <a:rPr lang="en-US" dirty="0"/>
              <a:t> 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Protection des données </a:t>
            </a:r>
            <a:r>
              <a:rPr lang="en-US" dirty="0" err="1"/>
              <a:t>linguistiques</a:t>
            </a:r>
            <a:r>
              <a:rPr lang="en-US" dirty="0"/>
              <a:t>. 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/>
              <a:t>Compatibilité (Moodle, Google Classroom). 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Performance et </a:t>
            </a:r>
            <a:r>
              <a:rPr lang="en-US" dirty="0" err="1"/>
              <a:t>clarté</a:t>
            </a:r>
            <a:r>
              <a:rPr lang="en-US" dirty="0"/>
              <a:t> des retours IA. 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2E357106-76EB-0378-35C7-405CB219D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80" r="3758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9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AE3CC-96D3-8309-6B3E-5FCFC41C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A2BACD-8F65-39C4-26CF-19F4AEA447D6}"/>
              </a:ext>
            </a:extLst>
          </p:cNvPr>
          <p:cNvSpPr txBox="1"/>
          <p:nvPr/>
        </p:nvSpPr>
        <p:spPr>
          <a:xfrm>
            <a:off x="5568534" y="603504"/>
            <a:ext cx="5916169" cy="15270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Données et études similaires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7A5936F8-1886-1DE7-0B6B-471E74BD4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7" r="3735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FE1D917-1A8F-A6D4-9884-5772B6CDDA94}"/>
              </a:ext>
            </a:extLst>
          </p:cNvPr>
          <p:cNvSpPr txBox="1"/>
          <p:nvPr/>
        </p:nvSpPr>
        <p:spPr>
          <a:xfrm>
            <a:off x="5568533" y="2214282"/>
            <a:ext cx="5916169" cy="40950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OCDE (2023) : 37 % des étudiants allophones manquent d’outils d’autoévaluation.</a:t>
            </a:r>
            <a:endParaRPr lang="en-US" altLang="zh-CN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Grammarly (2022) : 30 M d’utilisateurs, mais &lt; 15 % comprennent les règles de grammaire.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Université Laval (2021) : la correction participative </a:t>
            </a:r>
            <a:r>
              <a:rPr lang="en-US" dirty="0" err="1"/>
              <a:t>améliore</a:t>
            </a:r>
            <a:r>
              <a:rPr lang="en-US" dirty="0"/>
              <a:t> la </a:t>
            </a:r>
            <a:r>
              <a:rPr lang="en-US" dirty="0" err="1"/>
              <a:t>rétention</a:t>
            </a:r>
            <a:r>
              <a:rPr lang="en-US" dirty="0"/>
              <a:t> </a:t>
            </a:r>
            <a:r>
              <a:rPr lang="en-US" dirty="0" err="1"/>
              <a:t>grammaticale</a:t>
            </a:r>
            <a:r>
              <a:rPr lang="en-US" dirty="0"/>
              <a:t> de 42 %.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LangSynapse met l’accent sur la compréhension et la participation active.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0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F6709-A276-D36C-2420-E87644DB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50DF26A2-096A-84C3-B4BF-CF20B0385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3EA4AA-8972-0810-0E3A-73CAA91A8207}"/>
              </a:ext>
            </a:extLst>
          </p:cNvPr>
          <p:cNvSpPr txBox="1"/>
          <p:nvPr/>
        </p:nvSpPr>
        <p:spPr>
          <a:xfrm>
            <a:off x="5568534" y="603504"/>
            <a:ext cx="5916169" cy="15270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Données et études similaires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zh-CN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5060D8F4-66F0-3598-2F25-A2AC94A04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7" r="3735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B510DB0-743D-2780-5066-2E8D8D6B88BC}"/>
              </a:ext>
            </a:extLst>
          </p:cNvPr>
          <p:cNvSpPr txBox="1"/>
          <p:nvPr/>
        </p:nvSpPr>
        <p:spPr>
          <a:xfrm>
            <a:off x="5568533" y="2214282"/>
            <a:ext cx="5916169" cy="40950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OCDE (2023) : 37 % des étudiants allophones manquent d’outils d’autoévaluation.</a:t>
            </a:r>
            <a:endParaRPr lang="en-US" altLang="zh-CN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Grammarly (2022) : 30 M d’utilisateurs, mais &lt; 15 % comprennent les règles de grammaire.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Université Laval (2021) : la correction participative améliore la rétention grammaticale de 42 %.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LangSynapse met l’accent sur la compréhension et la participation active.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0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16" y="23554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/>
              <a:t>Identification des utilisateurs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564581"/>
              </p:ext>
            </p:extLst>
          </p:nvPr>
        </p:nvGraphicFramePr>
        <p:xfrm>
          <a:off x="469598" y="1955957"/>
          <a:ext cx="6572384" cy="374172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751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300" b="1" cap="all" spc="60">
                          <a:solidFill>
                            <a:schemeClr val="tx1"/>
                          </a:solidFill>
                        </a:rPr>
                        <a:t>Catégorie</a:t>
                      </a:r>
                    </a:p>
                  </a:txBody>
                  <a:tcPr marL="243694" marR="121847" marT="96761" marB="967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300" b="1" cap="all" spc="60">
                          <a:solidFill>
                            <a:schemeClr val="tx1"/>
                          </a:solidFill>
                        </a:rPr>
                        <a:t>Besoins principaux</a:t>
                      </a:r>
                    </a:p>
                  </a:txBody>
                  <a:tcPr marL="243694" marR="121847" marT="96761" marB="967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300" b="1" cap="all" spc="60">
                          <a:solidFill>
                            <a:schemeClr val="tx1"/>
                          </a:solidFill>
                        </a:rPr>
                        <a:t>Exemples</a:t>
                      </a:r>
                    </a:p>
                  </a:txBody>
                  <a:tcPr marL="243694" marR="121847" marT="96761" marB="9676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37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Étudiants FLS/FLE</a:t>
                      </a:r>
                    </a:p>
                  </a:txBody>
                  <a:tcPr marL="243694" marR="121847" marT="121847" marB="96761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Explications claires, suivi du progrès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LaSalle, UdeM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37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Enseignants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Déléguer corrections répétitives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Professeurs FLS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37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Apprenants autonomes</a:t>
                      </a:r>
                    </a:p>
                  </a:txBody>
                  <a:tcPr marL="243694" marR="121847" marT="121847" marB="96761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Apprentissage sans encadrement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Préparation TCF/TEF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37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Chercheurs IA linguistique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Analyse des erreurs et apprentissage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af-ZA" sz="1700" cap="none" spc="0">
                          <a:solidFill>
                            <a:schemeClr val="tx1"/>
                          </a:solidFill>
                        </a:rPr>
                        <a:t>NLP, IA éducative</a:t>
                      </a:r>
                    </a:p>
                  </a:txBody>
                  <a:tcPr marL="243694" marR="121847" marT="121847" marB="96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1" descr="背景图案&#10;&#10;AI 生成的内容可能不正确。">
            <a:extLst>
              <a:ext uri="{FF2B5EF4-FFF2-40B4-BE49-F238E27FC236}">
                <a16:creationId xmlns:a16="http://schemas.microsoft.com/office/drawing/2014/main" id="{F79E8D1F-CA7A-DF91-2602-A8D976965B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7" r="37354"/>
          <a:stretch>
            <a:fillRect/>
          </a:stretch>
        </p:blipFill>
        <p:spPr>
          <a:xfrm>
            <a:off x="7282036" y="10"/>
            <a:ext cx="49103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5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7B6A00-29E6-4E7C-997F-F64438DDB618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290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宋体</vt:lpstr>
      <vt:lpstr>Aptos</vt:lpstr>
      <vt:lpstr>Arial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Identification des utilisateurs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mac10925</cp:lastModifiedBy>
  <cp:revision>200</cp:revision>
  <dcterms:created xsi:type="dcterms:W3CDTF">2025-11-07T23:28:16Z</dcterms:created>
  <dcterms:modified xsi:type="dcterms:W3CDTF">2025-11-11T13:44:12Z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2025-11-07T23:28:27Z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3c1fe1a0-d853-44c6-a63e-86d14cbf96e1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10, 3, 0, 2</vt:lpwstr>
  </property>
</Properties>
</file>